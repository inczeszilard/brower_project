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gq6b7DvZ3rbflD7lNLkv1+7wM1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fld id="{00000000-1234-1234-1234-123412341234}" type="slidenum"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1a0904e662_0_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fld id="{00000000-1234-1234-1234-123412341234}" type="slidenum"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31a0904e662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g31a0904e6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a0904e662_0_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fld id="{00000000-1234-1234-1234-123412341234}" type="slidenum"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1a0904e662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g31a0904e66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1a0904e662_0_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fld id="{00000000-1234-1234-1234-123412341234}" type="slidenum"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1a0904e662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g31a0904e66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04c33325db_0_6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fld id="{00000000-1234-1234-1234-123412341234}" type="slidenum"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104c33325db_0_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g104c33325d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fld id="{00000000-1234-1234-1234-123412341234}" type="slidenum"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cc0fe9f4a7_0_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fld id="{00000000-1234-1234-1234-123412341234}" type="slidenum"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1cc0fe9f4a7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g1cc0fe9f4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0" y="6597650"/>
            <a:ext cx="9144000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1a0904e662_0_4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1a0904e662_0_42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g31a0904e662_0_4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1a0904e662_0_4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0" y="6597650"/>
            <a:ext cx="9144000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/>
          <p:nvPr>
            <p:ph type="ctrTitle"/>
          </p:nvPr>
        </p:nvSpPr>
        <p:spPr>
          <a:xfrm>
            <a:off x="685800" y="350837"/>
            <a:ext cx="7772400" cy="50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MEDII ȘI INSTRUMENTE DE PROGRAMARE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4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Mini proiect 1</a:t>
            </a:r>
            <a:br>
              <a:rPr b="0" i="0" lang="en-US" sz="4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Web browser.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1a0904e662_0_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Evaluare</a:t>
            </a:r>
            <a:endParaRPr/>
          </a:p>
        </p:txBody>
      </p:sp>
      <p:sp>
        <p:nvSpPr>
          <p:cNvPr id="48" name="Google Shape;48;g31a0904e662_0_0"/>
          <p:cNvSpPr txBox="1"/>
          <p:nvPr/>
        </p:nvSpPr>
        <p:spPr>
          <a:xfrm>
            <a:off x="312725" y="1045425"/>
            <a:ext cx="8831400" cy="45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0" lang="en-US" sz="2300" u="none" cap="none" strike="noStrike">
                <a:solidFill>
                  <a:schemeClr val="dk1"/>
                </a:solidFill>
              </a:rPr>
              <a:t>Nota laborator</a:t>
            </a:r>
            <a:endParaRPr b="1" i="0" sz="2300" u="none" cap="none" strike="noStrike">
              <a:solidFill>
                <a:schemeClr val="dk1"/>
              </a:solidFill>
            </a:endParaRPr>
          </a:p>
          <a:p>
            <a:pPr indent="-285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○"/>
            </a:pPr>
            <a:r>
              <a:rPr b="1" i="0" lang="en-US" sz="2300" u="none" cap="none" strike="noStrike">
                <a:solidFill>
                  <a:schemeClr val="dk1"/>
                </a:solidFill>
              </a:rPr>
              <a:t>Pe parcursul modulului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300">
                <a:solidFill>
                  <a:schemeClr val="dk1"/>
                </a:solidFill>
              </a:rPr>
              <a:t>6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0%):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■"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Proiect 1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900">
                <a:solidFill>
                  <a:schemeClr val="dk1"/>
                </a:solidFill>
              </a:rPr>
              <a:t>25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■"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Proiect 2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900">
                <a:solidFill>
                  <a:schemeClr val="dk1"/>
                </a:solidFill>
              </a:rPr>
              <a:t>35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%)</a:t>
            </a:r>
            <a:endParaRPr sz="1900">
              <a:solidFill>
                <a:schemeClr val="dk1"/>
              </a:solidFill>
            </a:endParaRPr>
          </a:p>
          <a:p>
            <a:pPr indent="-28575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○"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Proiect final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prezentat in ultima saptamana (</a:t>
            </a:r>
            <a:r>
              <a:rPr lang="en-US" sz="2300">
                <a:solidFill>
                  <a:schemeClr val="dk1"/>
                </a:solidFill>
              </a:rPr>
              <a:t>4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0%)</a:t>
            </a:r>
            <a:endParaRPr sz="2300">
              <a:solidFill>
                <a:schemeClr val="dk1"/>
              </a:solidFill>
            </a:endParaRPr>
          </a:p>
          <a:p>
            <a:pPr indent="-2794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Termenele predare ale proiectelor și testele vor fi anunțate din timp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Prezenta: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○"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100% pentru a intra in examenul final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○"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pot recupera maxim 2 laboratoare/ore de proiect (cu alte grupe sau prin proiect suplimentar)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49" name="Google Shape;49;g31a0904e662_0_0"/>
          <p:cNvSpPr txBox="1"/>
          <p:nvPr/>
        </p:nvSpPr>
        <p:spPr>
          <a:xfrm>
            <a:off x="156300" y="5551725"/>
            <a:ext cx="883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Nota = Nota Curs (60%) +  Nota laborator (40%)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1a0904e662_0_1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</a:pPr>
            <a:r>
              <a:rPr lang="en-US"/>
              <a:t>Cod de conduita</a:t>
            </a:r>
            <a:endParaRPr/>
          </a:p>
        </p:txBody>
      </p:sp>
      <p:sp>
        <p:nvSpPr>
          <p:cNvPr id="56" name="Google Shape;56;g31a0904e662_0_13"/>
          <p:cNvSpPr txBox="1"/>
          <p:nvPr/>
        </p:nvSpPr>
        <p:spPr>
          <a:xfrm>
            <a:off x="473925" y="1444625"/>
            <a:ext cx="8670000" cy="3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Munca in echipa este incurajata. Totusi fiecare student va trebui sa isi dovedeasca contributia la dezvoltarea proiectului final.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Copierea proiectelor (1&amp;2&amp;3) este nerecomandata (inclusiv de pe Internet).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Proiectele (1&amp;2&amp;3) identice sau asemanatoare nu vor fi notate (atat sursa cat si copia).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Proiectele copiate de pe Internet nu vor fi notate.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Proiectele vor fi trimise arhivate pe Blackboard/Teams (Proiectele 1 si 2), iar Proiectul in echipa va fi prezentat la laborator.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Proiectele intarziate vor fi penalizate cu 20 de puncte.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solidFill>
                  <a:schemeClr val="dk1"/>
                </a:solidFill>
              </a:rPr>
              <a:t>Proiectele generate (ChatGPT, Copilot, etc.) vor fi penalizate cu 30 de puncte.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a0904e662_0_19"/>
          <p:cNvSpPr txBox="1"/>
          <p:nvPr>
            <p:ph type="title"/>
          </p:nvPr>
        </p:nvSpPr>
        <p:spPr>
          <a:xfrm>
            <a:off x="-65325" y="0"/>
            <a:ext cx="9144000" cy="15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</a:pPr>
            <a:r>
              <a:rPr lang="en-US"/>
              <a:t>Programare proiecte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3" name="Google Shape;63;g31a0904e662_0_19"/>
          <p:cNvSpPr txBox="1"/>
          <p:nvPr/>
        </p:nvSpPr>
        <p:spPr>
          <a:xfrm>
            <a:off x="474000" y="1839675"/>
            <a:ext cx="8670000" cy="4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i="0" lang="en-US" sz="2200" u="none" cap="none" strike="noStrike">
                <a:solidFill>
                  <a:schemeClr val="dk1"/>
                </a:solidFill>
              </a:rPr>
              <a:t>Proiect 1</a:t>
            </a:r>
            <a:endParaRPr b="1" i="0" sz="2200" u="none" cap="none" strike="noStrike">
              <a:solidFill>
                <a:schemeClr val="dk1"/>
              </a:solidFill>
            </a:endParaRPr>
          </a:p>
          <a:p>
            <a:pPr indent="-2921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Prezentare cerinte: </a:t>
            </a:r>
            <a:r>
              <a:rPr lang="en-US" sz="1800">
                <a:solidFill>
                  <a:schemeClr val="dk1"/>
                </a:solidFill>
              </a:rPr>
              <a:t>28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.1</a:t>
            </a:r>
            <a:r>
              <a:rPr lang="en-US" sz="1800">
                <a:solidFill>
                  <a:schemeClr val="dk1"/>
                </a:solidFill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.202</a:t>
            </a:r>
            <a:r>
              <a:rPr lang="en-US" sz="1800">
                <a:solidFill>
                  <a:schemeClr val="dk1"/>
                </a:solidFill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Predare proiect (Blackboard): </a:t>
            </a:r>
            <a:r>
              <a:rPr lang="en-US" sz="1800">
                <a:solidFill>
                  <a:schemeClr val="dk1"/>
                </a:solidFill>
              </a:rPr>
              <a:t>14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.12.202</a:t>
            </a:r>
            <a:r>
              <a:rPr lang="en-US" sz="1800">
                <a:solidFill>
                  <a:schemeClr val="dk1"/>
                </a:solidFill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1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Proiect 2</a:t>
            </a:r>
            <a:endParaRPr b="0" i="1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Prezentare cerinte: </a:t>
            </a:r>
            <a:r>
              <a:rPr lang="en-US" sz="1800">
                <a:solidFill>
                  <a:schemeClr val="dk1"/>
                </a:solidFill>
              </a:rPr>
              <a:t>9-13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.12.202</a:t>
            </a:r>
            <a:r>
              <a:rPr lang="en-US" sz="1800">
                <a:solidFill>
                  <a:schemeClr val="dk1"/>
                </a:solidFill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Predare proiect (Blackboard): </a:t>
            </a:r>
            <a:r>
              <a:rPr lang="en-US" sz="1800">
                <a:solidFill>
                  <a:schemeClr val="dk1"/>
                </a:solidFill>
              </a:rPr>
              <a:t>6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.01.202</a:t>
            </a:r>
            <a:r>
              <a:rPr lang="en-US" sz="1800">
                <a:solidFill>
                  <a:schemeClr val="dk1"/>
                </a:solidFill>
              </a:rPr>
              <a:t>5</a:t>
            </a:r>
            <a:endParaRPr b="0" i="0" sz="1800" u="none" cap="none" strike="sng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1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Proiect Final</a:t>
            </a:r>
            <a:endParaRPr b="0" i="1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Prezentare cerinte: </a:t>
            </a:r>
            <a:r>
              <a:rPr lang="en-US" sz="1800">
                <a:solidFill>
                  <a:schemeClr val="dk1"/>
                </a:solidFill>
              </a:rPr>
              <a:t>16-20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800">
                <a:solidFill>
                  <a:schemeClr val="dk1"/>
                </a:solidFill>
              </a:rPr>
              <a:t>12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.202</a:t>
            </a:r>
            <a:r>
              <a:rPr lang="en-US" sz="1800">
                <a:solidFill>
                  <a:schemeClr val="dk1"/>
                </a:solidFill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Prezentare (in clasa): </a:t>
            </a:r>
            <a:r>
              <a:rPr lang="en-US" sz="1800">
                <a:solidFill>
                  <a:schemeClr val="dk1"/>
                </a:solidFill>
              </a:rPr>
              <a:t>13-17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.01.202</a:t>
            </a:r>
            <a:r>
              <a:rPr lang="en-US" sz="1800">
                <a:solidFill>
                  <a:schemeClr val="dk1"/>
                </a:solidFill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4c33325db_0_6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</a:pPr>
            <a:r>
              <a:rPr lang="en-US"/>
              <a:t>Proiect 1</a:t>
            </a:r>
            <a:endParaRPr/>
          </a:p>
        </p:txBody>
      </p:sp>
      <p:sp>
        <p:nvSpPr>
          <p:cNvPr id="70" name="Google Shape;70;g104c33325db_0_64"/>
          <p:cNvSpPr txBox="1"/>
          <p:nvPr/>
        </p:nvSpPr>
        <p:spPr>
          <a:xfrm>
            <a:off x="473925" y="1143000"/>
            <a:ext cx="8670000" cy="4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i="0" lang="en-US" sz="2200" u="none" cap="none" strike="noStrike">
                <a:solidFill>
                  <a:schemeClr val="dk1"/>
                </a:solidFill>
              </a:rPr>
              <a:t>Start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200">
                <a:solidFill>
                  <a:schemeClr val="dk1"/>
                </a:solidFill>
              </a:rPr>
              <a:t>28.11.2024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i="0" lang="en-US" sz="2200" u="none" cap="none" strike="noStrike">
                <a:solidFill>
                  <a:schemeClr val="dk1"/>
                </a:solidFill>
              </a:rPr>
              <a:t>Termen de predare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200">
                <a:solidFill>
                  <a:schemeClr val="dk1"/>
                </a:solidFill>
              </a:rPr>
              <a:t>14.12.2024, ora 23:59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i="0" lang="en-US" sz="2200" u="none" cap="none" strike="noStrike">
                <a:solidFill>
                  <a:schemeClr val="dk1"/>
                </a:solidFill>
              </a:rPr>
              <a:t>Predare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Blackboard (Assignment)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i="0" lang="en-US" sz="2200" u="none" cap="none" strike="noStrike">
                <a:solidFill>
                  <a:schemeClr val="dk1"/>
                </a:solidFill>
              </a:rPr>
              <a:t>Upload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200">
                <a:solidFill>
                  <a:schemeClr val="dk1"/>
                </a:solidFill>
              </a:rPr>
              <a:t>arhiva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200" u="none" cap="none" strike="noStrike">
                <a:solidFill>
                  <a:schemeClr val="dk1"/>
                </a:solidFill>
              </a:rPr>
              <a:t>.zip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2200">
                <a:solidFill>
                  <a:schemeClr val="dk1"/>
                </a:solidFill>
              </a:rPr>
              <a:t>fișierele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proiectului</a:t>
            </a:r>
            <a:r>
              <a:rPr lang="en-US" sz="2200">
                <a:solidFill>
                  <a:schemeClr val="dk1"/>
                </a:solidFill>
              </a:rPr>
              <a:t> (nu doar fisierele .cs, ci intreg proiectul)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Cerințe</a:t>
            </a:r>
            <a:endParaRPr/>
          </a:p>
        </p:txBody>
      </p:sp>
      <p:sp>
        <p:nvSpPr>
          <p:cNvPr id="77" name="Google Shape;77;p2"/>
          <p:cNvSpPr txBox="1"/>
          <p:nvPr>
            <p:ph idx="1" type="body"/>
          </p:nvPr>
        </p:nvSpPr>
        <p:spPr>
          <a:xfrm>
            <a:off x="260350" y="996950"/>
            <a:ext cx="8570912" cy="5208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325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i="0" lang="en-US" sz="2700" u="none">
                <a:solidFill>
                  <a:schemeClr val="dk1"/>
                </a:solidFill>
              </a:rPr>
              <a:t>Aplicație complet funcțională conform cerințelor de la laboratoarele 3 și 4</a:t>
            </a:r>
            <a:endParaRPr sz="2300"/>
          </a:p>
          <a:p>
            <a:pPr indent="-520700" lvl="1" marL="990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Navigare cu opțiunile specifice (forward, back, home, etc.).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520700" lvl="1" marL="990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Blocare URL pe baza unui set de cuvinte cheie.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520700" lvl="1" marL="990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Adăugare cuvinte cheie printr-un nou Form.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520700" lvl="1" marL="990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Vizualizarea listei de cuvinte cheie într-un ComboBox.</a:t>
            </a:r>
            <a:endParaRPr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20700" lvl="1" marL="990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Stergere cuvant cheie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520700" lvl="1" marL="990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Utilizare LINQ pentru filtrarea URL-urilor.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520700" lvl="1" marL="990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Utilizare AsyncTask pentru filtrarea URL-urilor și pentru scrierea în fișiere prin clasa Trace.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520700" lvl="1" marL="990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ADO.NET+SQLite pentru stocarea cuvintelor cheie. Cuvintele cheie se încarcă în Form (ComboBox) la pornirea aplicației.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cc0fe9f4a7_0_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</a:pPr>
            <a:r>
              <a:rPr lang="en-US"/>
              <a:t>Mentiuni</a:t>
            </a:r>
            <a:endParaRPr/>
          </a:p>
        </p:txBody>
      </p:sp>
      <p:sp>
        <p:nvSpPr>
          <p:cNvPr id="84" name="Google Shape;84;g1cc0fe9f4a7_0_0"/>
          <p:cNvSpPr txBox="1"/>
          <p:nvPr>
            <p:ph idx="1" type="body"/>
          </p:nvPr>
        </p:nvSpPr>
        <p:spPr>
          <a:xfrm>
            <a:off x="260350" y="996950"/>
            <a:ext cx="8571000" cy="52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461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Interfata aplicatiei este importanta. Dezvoltati proiectul astfel incat sa poata fi folosit de catre un utilizator non-tehnic.</a:t>
            </a:r>
            <a:endParaRPr/>
          </a:p>
          <a:p>
            <a:pPr indent="-5461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Optiunile Conectare/Deconectare nu trebuie sa fie vizibile! Reprezinta doar un exemplu.</a:t>
            </a:r>
            <a:endParaRPr/>
          </a:p>
          <a:p>
            <a:pPr indent="-5461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Actualizarea listei de cuvinte se face automat la deschiderea aplicatiei si la introducerea unui cuvant nou.</a:t>
            </a:r>
            <a:endParaRPr/>
          </a:p>
          <a:p>
            <a:pPr indent="-609600" lvl="0" marL="6096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annnenbaumTemplate">
  <a:themeElements>
    <a:clrScheme name="Tannnenbaum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annnenbaumTemplate">
  <a:themeElements>
    <a:clrScheme name="Tannnenbaum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2005-10-24T20:12:14Z</dcterms:created>
  <dc:creator>Genge Bela</dc:creator>
</cp:coreProperties>
</file>